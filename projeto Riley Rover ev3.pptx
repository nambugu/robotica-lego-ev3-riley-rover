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6858000" cx="12192000"/>
  <p:notesSz cx="6858000" cy="9144000"/>
  <p:embeddedFontLst>
    <p:embeddedFont>
      <p:font typeface="Helvetica Neue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9" roundtripDataSignature="AMtx7mi7TOS3hR2l4n7Q34yROpK7DH4YJ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HelveticaNeue-regular.fntdata"/><Relationship Id="rId14" Type="http://schemas.openxmlformats.org/officeDocument/2006/relationships/slide" Target="slides/slide10.xml"/><Relationship Id="rId17" Type="http://schemas.openxmlformats.org/officeDocument/2006/relationships/font" Target="fonts/HelveticaNeue-italic.fntdata"/><Relationship Id="rId16" Type="http://schemas.openxmlformats.org/officeDocument/2006/relationships/font" Target="fonts/HelveticaNeue-bold.fntdata"/><Relationship Id="rId5" Type="http://schemas.openxmlformats.org/officeDocument/2006/relationships/slide" Target="slides/slide1.xml"/><Relationship Id="rId19" Type="http://customschemas.google.com/relationships/presentationmetadata" Target="metadata"/><Relationship Id="rId6" Type="http://schemas.openxmlformats.org/officeDocument/2006/relationships/slide" Target="slides/slide2.xml"/><Relationship Id="rId18" Type="http://schemas.openxmlformats.org/officeDocument/2006/relationships/font" Target="fonts/HelveticaNeue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" name="Google Shape;60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8" name="Google Shape;68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5" name="Google Shape;75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2" name="Google Shape;82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9" name="Google Shape;89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6" name="Google Shape;96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4" name="Google Shape;104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1" name="Google Shape;111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1" name="Google Shape;121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9" name="Google Shape;129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_HEADER" showMasterSp="0" type="tx">
  <p:cSld name="TITLE_AND_BODY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5"/>
          <p:cNvSpPr/>
          <p:nvPr/>
        </p:nvSpPr>
        <p:spPr>
          <a:xfrm>
            <a:off x="1524000" y="6669360"/>
            <a:ext cx="9144000" cy="196696"/>
          </a:xfrm>
          <a:prstGeom prst="rect">
            <a:avLst/>
          </a:prstGeom>
          <a:solidFill>
            <a:srgbClr val="17365D">
              <a:alpha val="89411"/>
            </a:srgbClr>
          </a:solidFill>
          <a:ln cap="flat" cmpd="sng" w="25400">
            <a:solidFill>
              <a:srgbClr val="173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" name="Google Shape;14;p15"/>
          <p:cNvSpPr txBox="1"/>
          <p:nvPr>
            <p:ph type="title"/>
          </p:nvPr>
        </p:nvSpPr>
        <p:spPr>
          <a:xfrm>
            <a:off x="2259028" y="2924943"/>
            <a:ext cx="7772401" cy="1362076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libri"/>
              <a:buNone/>
              <a:defRPr b="1" sz="40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5" name="Google Shape;15;p15"/>
          <p:cNvSpPr txBox="1"/>
          <p:nvPr>
            <p:ph idx="1" type="body"/>
          </p:nvPr>
        </p:nvSpPr>
        <p:spPr>
          <a:xfrm>
            <a:off x="2266861" y="4377085"/>
            <a:ext cx="7772401" cy="1500188"/>
          </a:xfrm>
          <a:prstGeom prst="rect">
            <a:avLst/>
          </a:prstGeom>
          <a:noFill/>
          <a:ln>
            <a:noFill/>
          </a:ln>
        </p:spPr>
        <p:txBody>
          <a:bodyPr anchorCtr="0" anchor="b" bIns="45675" lIns="45675" spcFirstLastPara="1" rIns="45675" wrap="square" tIns="456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  <a:defRPr sz="20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  <a:defRPr sz="20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  <a:defRPr sz="2000">
                <a:solidFill>
                  <a:srgbClr val="888888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" name="Google Shape;16;p15"/>
          <p:cNvSpPr txBox="1"/>
          <p:nvPr>
            <p:ph idx="12" type="sldNum"/>
          </p:nvPr>
        </p:nvSpPr>
        <p:spPr>
          <a:xfrm>
            <a:off x="5943600" y="6172200"/>
            <a:ext cx="2133600" cy="3683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JECT" showMasterSp="0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6"/>
          <p:cNvSpPr/>
          <p:nvPr/>
        </p:nvSpPr>
        <p:spPr>
          <a:xfrm>
            <a:off x="1524000" y="6669360"/>
            <a:ext cx="9144000" cy="196696"/>
          </a:xfrm>
          <a:prstGeom prst="rect">
            <a:avLst/>
          </a:prstGeom>
          <a:solidFill>
            <a:srgbClr val="17365D">
              <a:alpha val="89411"/>
            </a:srgbClr>
          </a:solidFill>
          <a:ln cap="flat" cmpd="sng" w="25400">
            <a:solidFill>
              <a:srgbClr val="173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" name="Google Shape;19;p16"/>
          <p:cNvSpPr txBox="1"/>
          <p:nvPr>
            <p:ph type="title"/>
          </p:nvPr>
        </p:nvSpPr>
        <p:spPr>
          <a:xfrm>
            <a:off x="1991543" y="545195"/>
            <a:ext cx="8219257" cy="6515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  <a:defRPr b="1" sz="36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0" name="Google Shape;20;p16"/>
          <p:cNvSpPr txBox="1"/>
          <p:nvPr>
            <p:ph idx="1" type="body"/>
          </p:nvPr>
        </p:nvSpPr>
        <p:spPr>
          <a:xfrm>
            <a:off x="1981200" y="1340767"/>
            <a:ext cx="8229600" cy="4889089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  <a:defRPr sz="3200"/>
            </a:lvl1pPr>
            <a:lvl2pPr indent="-4318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3200"/>
              <a:buChar char="–"/>
              <a:defRPr sz="3200"/>
            </a:lvl2pPr>
            <a:lvl3pPr indent="-4318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  <a:defRPr sz="3200"/>
            </a:lvl3pPr>
            <a:lvl4pPr indent="-4318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3200"/>
              <a:buChar char="–"/>
              <a:defRPr sz="3200"/>
            </a:lvl4pPr>
            <a:lvl5pPr indent="-4318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3200"/>
              <a:buChar char="»"/>
              <a:defRPr sz="3200"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" name="Google Shape;21;p16"/>
          <p:cNvSpPr txBox="1"/>
          <p:nvPr>
            <p:ph idx="12" type="sldNum"/>
          </p:nvPr>
        </p:nvSpPr>
        <p:spPr>
          <a:xfrm>
            <a:off x="10319680" y="6564337"/>
            <a:ext cx="335827" cy="333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  <a:defRPr b="1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  <a:defRPr b="1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  <a:defRPr b="1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  <a:defRPr b="1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  <a:defRPr b="1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  <a:defRPr b="1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  <a:defRPr b="1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  <a:defRPr b="1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  <a:defRPr b="1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" name="Google Shape;22;p16"/>
          <p:cNvSpPr/>
          <p:nvPr/>
        </p:nvSpPr>
        <p:spPr>
          <a:xfrm>
            <a:off x="1524000" y="-3992"/>
            <a:ext cx="9144000" cy="265742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descr="Google Shape;27;p3" id="23" name="Google Shape;23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781754" y="-4223"/>
            <a:ext cx="850751" cy="26487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" name="Google Shape;24;p16"/>
          <p:cNvCxnSpPr/>
          <p:nvPr/>
        </p:nvCxnSpPr>
        <p:spPr>
          <a:xfrm>
            <a:off x="1991543" y="1124744"/>
            <a:ext cx="8219256" cy="1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showMasterSp="0" type="title">
  <p:cSld name="TITLE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m 7" id="26" name="Google Shape;26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414534" y="136525"/>
            <a:ext cx="1379306" cy="14074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m 12" id="27" name="Google Shape;2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20940"/>
            <a:ext cx="2560322" cy="122895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17"/>
          <p:cNvSpPr txBox="1"/>
          <p:nvPr/>
        </p:nvSpPr>
        <p:spPr>
          <a:xfrm>
            <a:off x="634306" y="6262043"/>
            <a:ext cx="10424161" cy="3924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X CIMATech - 2023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17"/>
          <p:cNvSpPr txBox="1"/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30" name="Google Shape;30;p17"/>
          <p:cNvSpPr txBox="1"/>
          <p:nvPr>
            <p:ph idx="1" type="body"/>
          </p:nvPr>
        </p:nvSpPr>
        <p:spPr>
          <a:xfrm>
            <a:off x="1524000" y="3602037"/>
            <a:ext cx="9144000" cy="16557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/>
            </a:lvl1pPr>
            <a:lvl2pPr indent="-228600" lvl="1" marL="9144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/>
            </a:lvl2pPr>
            <a:lvl3pPr indent="-228600" lvl="2" marL="1371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/>
            </a:lvl3pPr>
            <a:lvl4pPr indent="-228600" lvl="3" marL="18288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/>
            </a:lvl4pPr>
            <a:lvl5pPr indent="-228600" lvl="4" marL="22860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17"/>
          <p:cNvSpPr txBox="1"/>
          <p:nvPr>
            <p:ph idx="12" type="sldNum"/>
          </p:nvPr>
        </p:nvSpPr>
        <p:spPr>
          <a:xfrm>
            <a:off x="11095178" y="6414761"/>
            <a:ext cx="258623" cy="2483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>
  <p:cSld name="Título e Conteúdo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34" name="Google Shape;34;p1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18"/>
          <p:cNvSpPr txBox="1"/>
          <p:nvPr>
            <p:ph idx="12" type="sldNum"/>
          </p:nvPr>
        </p:nvSpPr>
        <p:spPr>
          <a:xfrm>
            <a:off x="11095178" y="6414761"/>
            <a:ext cx="258623" cy="2483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showMasterSp="0">
  <p:cSld name="Cabeçalho da Seção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m 7" id="37" name="Google Shape;37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414534" y="136525"/>
            <a:ext cx="1379306" cy="14074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m 12" id="38" name="Google Shape;3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20940"/>
            <a:ext cx="2560322" cy="1228954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19"/>
          <p:cNvSpPr txBox="1"/>
          <p:nvPr/>
        </p:nvSpPr>
        <p:spPr>
          <a:xfrm>
            <a:off x="634306" y="6262043"/>
            <a:ext cx="10424161" cy="3924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X CIMATech - 2023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19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41" name="Google Shape;41;p19"/>
          <p:cNvSpPr txBox="1"/>
          <p:nvPr>
            <p:ph idx="1" type="body"/>
          </p:nvPr>
        </p:nvSpPr>
        <p:spPr>
          <a:xfrm>
            <a:off x="831850" y="4589462"/>
            <a:ext cx="10515600" cy="1500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9"/>
          <p:cNvSpPr txBox="1"/>
          <p:nvPr>
            <p:ph idx="12" type="sldNum"/>
          </p:nvPr>
        </p:nvSpPr>
        <p:spPr>
          <a:xfrm>
            <a:off x="11095178" y="6414761"/>
            <a:ext cx="258623" cy="2483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showMasterSp="0">
  <p:cSld name="Duas Partes de Conteúdo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m 7" id="44" name="Google Shape;44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414534" y="136525"/>
            <a:ext cx="1379306" cy="14074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m 12" id="45" name="Google Shape;4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20940"/>
            <a:ext cx="2560322" cy="122895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20"/>
          <p:cNvSpPr txBox="1"/>
          <p:nvPr/>
        </p:nvSpPr>
        <p:spPr>
          <a:xfrm>
            <a:off x="634306" y="6262043"/>
            <a:ext cx="10424161" cy="3924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X CIMATech - 2023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48" name="Google Shape;48;p20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20"/>
          <p:cNvSpPr txBox="1"/>
          <p:nvPr>
            <p:ph idx="12" type="sldNum"/>
          </p:nvPr>
        </p:nvSpPr>
        <p:spPr>
          <a:xfrm>
            <a:off x="11095178" y="6414761"/>
            <a:ext cx="258623" cy="2483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showMasterSp="0">
  <p:cSld name="Comparação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m 7" id="51" name="Google Shape;51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414534" y="136525"/>
            <a:ext cx="1379306" cy="14074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m 12" id="52" name="Google Shape;5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20940"/>
            <a:ext cx="2560322" cy="1228954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21"/>
          <p:cNvSpPr txBox="1"/>
          <p:nvPr/>
        </p:nvSpPr>
        <p:spPr>
          <a:xfrm>
            <a:off x="634306" y="6262043"/>
            <a:ext cx="10424161" cy="3924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X CIMATech - 2023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21"/>
          <p:cNvSpPr txBox="1"/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55" name="Google Shape;55;p21"/>
          <p:cNvSpPr txBox="1"/>
          <p:nvPr>
            <p:ph idx="1" type="body"/>
          </p:nvPr>
        </p:nvSpPr>
        <p:spPr>
          <a:xfrm>
            <a:off x="839787" y="1681163"/>
            <a:ext cx="5157790" cy="82391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 sz="2400"/>
            </a:lvl2pPr>
            <a:lvl3pPr indent="-2286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 sz="2400"/>
            </a:lvl3pPr>
            <a:lvl4pPr indent="-2286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 sz="2400"/>
            </a:lvl4pPr>
            <a:lvl5pPr indent="-2286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 sz="2400"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21"/>
          <p:cNvSpPr txBox="1"/>
          <p:nvPr>
            <p:ph idx="2" type="body"/>
          </p:nvPr>
        </p:nvSpPr>
        <p:spPr>
          <a:xfrm>
            <a:off x="6172200" y="1681163"/>
            <a:ext cx="5183188" cy="82391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7" name="Google Shape;57;p21"/>
          <p:cNvSpPr txBox="1"/>
          <p:nvPr>
            <p:ph idx="12" type="sldNum"/>
          </p:nvPr>
        </p:nvSpPr>
        <p:spPr>
          <a:xfrm>
            <a:off x="11095178" y="6414761"/>
            <a:ext cx="258623" cy="2483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10" Type="http://schemas.openxmlformats.org/officeDocument/2006/relationships/theme" Target="../theme/theme2.xml"/><Relationship Id="rId9" Type="http://schemas.openxmlformats.org/officeDocument/2006/relationships/slideLayout" Target="../slideLayouts/slideLayout7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m 7" id="6" name="Google Shape;6;p14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0414534" y="136525"/>
            <a:ext cx="1379306" cy="14074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m 12" id="7" name="Google Shape;7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220940"/>
            <a:ext cx="2560322" cy="1228954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8;p14"/>
          <p:cNvSpPr txBox="1"/>
          <p:nvPr/>
        </p:nvSpPr>
        <p:spPr>
          <a:xfrm>
            <a:off x="634306" y="6262043"/>
            <a:ext cx="10424161" cy="3924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X CIMATech - 2023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9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406400" lvl="2" marL="1371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406400" lvl="3" marL="18288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406400" lvl="4" marL="22860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406400" lvl="5" marL="2743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406400" lvl="6" marL="32004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406400" lvl="7" marL="3657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406400" lvl="8" marL="41148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14"/>
          <p:cNvSpPr txBox="1"/>
          <p:nvPr>
            <p:ph idx="12" type="sldNum"/>
          </p:nvPr>
        </p:nvSpPr>
        <p:spPr>
          <a:xfrm>
            <a:off x="11095178" y="6414761"/>
            <a:ext cx="258623" cy="2483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jpg"/><Relationship Id="rId4" Type="http://schemas.openxmlformats.org/officeDocument/2006/relationships/image" Target="../media/image7.jpg"/><Relationship Id="rId5" Type="http://schemas.openxmlformats.org/officeDocument/2006/relationships/image" Target="../media/image6.jpg"/><Relationship Id="rId6" Type="http://schemas.openxmlformats.org/officeDocument/2006/relationships/hyperlink" Target="https://www.youtube.com/shorts/vy6NWu-kSXs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www.youtube.com/shorts/vy6NWu-kSXs" TargetMode="External"/><Relationship Id="rId4" Type="http://schemas.openxmlformats.org/officeDocument/2006/relationships/hyperlink" Target="https://github.com/nambugu/Robotica-Lego-EV3-Riley-Rover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2" name="Google Shape;62;p1"/>
          <p:cNvCxnSpPr/>
          <p:nvPr/>
        </p:nvCxnSpPr>
        <p:spPr>
          <a:xfrm>
            <a:off x="1991543" y="5013176"/>
            <a:ext cx="7992890" cy="1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63" name="Google Shape;63;p1"/>
          <p:cNvGrpSpPr/>
          <p:nvPr/>
        </p:nvGrpSpPr>
        <p:grpSpPr>
          <a:xfrm>
            <a:off x="2667000" y="34047"/>
            <a:ext cx="6858000" cy="4624759"/>
            <a:chOff x="0" y="0"/>
            <a:chExt cx="6858000" cy="4624758"/>
          </a:xfrm>
        </p:grpSpPr>
        <p:pic>
          <p:nvPicPr>
            <p:cNvPr descr="filme-colado.png" id="64" name="Google Shape;64;p1"/>
            <p:cNvPicPr preferRelativeResize="0"/>
            <p:nvPr/>
          </p:nvPicPr>
          <p:blipFill rotWithShape="1">
            <a:blip r:embed="rId3">
              <a:alphaModFix/>
            </a:blip>
            <a:srcRect b="1771" l="0" r="0" t="1772"/>
            <a:stretch/>
          </p:blipFill>
          <p:spPr>
            <a:xfrm>
              <a:off x="0" y="0"/>
              <a:ext cx="6858000" cy="310075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5" name="Google Shape;65;p1"/>
            <p:cNvSpPr/>
            <p:nvPr/>
          </p:nvSpPr>
          <p:spPr>
            <a:xfrm>
              <a:off x="0" y="3176957"/>
              <a:ext cx="6858000" cy="14478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6200" lIns="76200" spcFirstLastPara="1" rIns="76200" wrap="square" tIns="76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Times"/>
                <a:buNone/>
              </a:pPr>
              <a:r>
                <a:rPr b="1" i="0" lang="en-US" sz="2800" u="none" cap="none" strike="noStrike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Grupo: </a:t>
              </a:r>
              <a:r>
                <a:rPr b="1" lang="en-US" sz="2800">
                  <a:solidFill>
                    <a:srgbClr val="FF0000"/>
                  </a:solidFill>
                  <a:latin typeface="Times"/>
                  <a:ea typeface="Times"/>
                  <a:cs typeface="Times"/>
                  <a:sym typeface="Times"/>
                </a:rPr>
                <a:t>Megazord</a:t>
              </a:r>
              <a:r>
                <a:rPr b="1" i="0" lang="en-US" sz="2800" u="none" cap="none" strike="noStrike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Times"/>
                <a:buNone/>
              </a:pPr>
              <a:br>
                <a:rPr b="1" i="0" lang="en-US" sz="2800" u="none" cap="none" strike="noStrike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</a:br>
              <a:r>
                <a:rPr b="0" i="0" lang="en-US" sz="2800" u="none" cap="none" strike="noStrike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Tema do projeto:</a:t>
              </a:r>
              <a:r>
                <a:rPr lang="en-US" sz="2800">
                  <a:latin typeface="Times"/>
                  <a:ea typeface="Times"/>
                  <a:cs typeface="Times"/>
                  <a:sym typeface="Times"/>
                </a:rPr>
                <a:t> </a:t>
              </a:r>
              <a:r>
                <a:rPr lang="en-US" sz="2800">
                  <a:solidFill>
                    <a:srgbClr val="FF0000"/>
                  </a:solidFill>
                  <a:latin typeface="Times"/>
                  <a:ea typeface="Times"/>
                  <a:cs typeface="Times"/>
                  <a:sym typeface="Times"/>
                </a:rPr>
                <a:t>Riley Rover: Veículo Autônomo de Resgate e Coleta com Pybricks.</a:t>
              </a:r>
              <a:endParaRPr b="0" i="0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"/>
          <p:cNvSpPr txBox="1"/>
          <p:nvPr>
            <p:ph type="title"/>
          </p:nvPr>
        </p:nvSpPr>
        <p:spPr>
          <a:xfrm>
            <a:off x="1991543" y="545195"/>
            <a:ext cx="8219256" cy="6515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"/>
              <a:buNone/>
            </a:pPr>
            <a:r>
              <a:rPr b="1" i="0" lang="en-US" sz="36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Grupo </a:t>
            </a:r>
            <a:r>
              <a:rPr lang="en-US">
                <a:latin typeface="Times"/>
                <a:ea typeface="Times"/>
                <a:cs typeface="Times"/>
                <a:sym typeface="Times"/>
              </a:rPr>
              <a:t>Megazord</a:t>
            </a:r>
            <a:endParaRPr b="1" i="0" sz="3600" u="none" cap="none" strike="noStrike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71" name="Google Shape;71;p2"/>
          <p:cNvSpPr txBox="1"/>
          <p:nvPr>
            <p:ph idx="12" type="sldNum"/>
          </p:nvPr>
        </p:nvSpPr>
        <p:spPr>
          <a:xfrm>
            <a:off x="10435543" y="6564337"/>
            <a:ext cx="219964" cy="333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2" name="Google Shape;72;p2"/>
          <p:cNvSpPr txBox="1"/>
          <p:nvPr/>
        </p:nvSpPr>
        <p:spPr>
          <a:xfrm>
            <a:off x="1519826" y="1481299"/>
            <a:ext cx="8912100" cy="13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-280736" lvl="0" marL="280736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"/>
              <a:buChar char="•"/>
            </a:pPr>
            <a:r>
              <a:rPr lang="en-US" sz="2800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Gustavo Diniz Nambu - RA 2300232</a:t>
            </a:r>
            <a:endParaRPr sz="2800">
              <a:solidFill>
                <a:srgbClr val="FF0000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280736" lvl="0" marL="280736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"/>
              <a:buChar char="•"/>
            </a:pPr>
            <a:r>
              <a:rPr lang="en-US" sz="2800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Enzo Ferigatto Barrionovo - RA 2301239</a:t>
            </a:r>
            <a:endParaRPr sz="2800">
              <a:solidFill>
                <a:srgbClr val="FF0000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280736" lvl="0" marL="280736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"/>
              <a:buChar char="•"/>
            </a:pPr>
            <a:r>
              <a:rPr lang="en-US" sz="2800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Pedro Neri Laino - RA 2301683</a:t>
            </a:r>
            <a:endParaRPr sz="2800">
              <a:solidFill>
                <a:srgbClr val="FF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"/>
          <p:cNvSpPr txBox="1"/>
          <p:nvPr>
            <p:ph type="title"/>
          </p:nvPr>
        </p:nvSpPr>
        <p:spPr>
          <a:xfrm>
            <a:off x="1991543" y="545195"/>
            <a:ext cx="8219256" cy="6515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"/>
              <a:buNone/>
            </a:pPr>
            <a:r>
              <a:rPr lang="en-US">
                <a:latin typeface="Times"/>
                <a:ea typeface="Times"/>
                <a:cs typeface="Times"/>
                <a:sym typeface="Times"/>
              </a:rPr>
              <a:t>Objetivo</a:t>
            </a:r>
            <a:endParaRPr/>
          </a:p>
        </p:txBody>
      </p:sp>
      <p:sp>
        <p:nvSpPr>
          <p:cNvPr id="78" name="Google Shape;78;p3"/>
          <p:cNvSpPr txBox="1"/>
          <p:nvPr>
            <p:ph idx="12" type="sldNum"/>
          </p:nvPr>
        </p:nvSpPr>
        <p:spPr>
          <a:xfrm>
            <a:off x="10435543" y="6564337"/>
            <a:ext cx="219964" cy="333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9" name="Google Shape;79;p3"/>
          <p:cNvSpPr txBox="1"/>
          <p:nvPr/>
        </p:nvSpPr>
        <p:spPr>
          <a:xfrm>
            <a:off x="1519826" y="1481299"/>
            <a:ext cx="8912100" cy="3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-406400" lvl="0" marL="457200" rtl="0" algn="just">
              <a:spcBef>
                <a:spcPts val="0"/>
              </a:spcBef>
              <a:spcAft>
                <a:spcPts val="0"/>
              </a:spcAft>
              <a:buSzPts val="2800"/>
              <a:buFont typeface="Times"/>
              <a:buChar char="●"/>
            </a:pPr>
            <a:r>
              <a:rPr lang="en-US" sz="2800">
                <a:latin typeface="Times"/>
                <a:ea typeface="Times"/>
                <a:cs typeface="Times"/>
                <a:sym typeface="Times"/>
              </a:rPr>
              <a:t>O objetivo deste protótipo é desenvolver um robô autônomo capaz de navegar em linha reta, detectar um objeto a uma distância pré-determinada, realizar a captura segura utilizando uma garra motorizada e retornar ao ponto de origem. O protótipo pode ajudar na </a:t>
            </a:r>
            <a:r>
              <a:rPr lang="en-US" sz="2800">
                <a:latin typeface="Times"/>
                <a:ea typeface="Times"/>
                <a:cs typeface="Times"/>
                <a:sym typeface="Times"/>
              </a:rPr>
              <a:t>captação</a:t>
            </a:r>
            <a:r>
              <a:rPr lang="en-US" sz="2800">
                <a:latin typeface="Times"/>
                <a:ea typeface="Times"/>
                <a:cs typeface="Times"/>
                <a:sym typeface="Times"/>
              </a:rPr>
              <a:t> de objetos em áreas de risco, utilizando o princípio de navegação e coleta.</a:t>
            </a:r>
            <a:endParaRPr sz="2800">
              <a:latin typeface="Times"/>
              <a:ea typeface="Times"/>
              <a:cs typeface="Times"/>
              <a:sym typeface="Time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"/>
          <p:cNvSpPr txBox="1"/>
          <p:nvPr>
            <p:ph type="title"/>
          </p:nvPr>
        </p:nvSpPr>
        <p:spPr>
          <a:xfrm>
            <a:off x="1991543" y="545195"/>
            <a:ext cx="8219256" cy="6515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"/>
              <a:buNone/>
            </a:pPr>
            <a:r>
              <a:rPr b="1" i="0" lang="en-US" sz="36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Introdução  </a:t>
            </a:r>
            <a:endParaRPr/>
          </a:p>
        </p:txBody>
      </p:sp>
      <p:sp>
        <p:nvSpPr>
          <p:cNvPr id="85" name="Google Shape;85;p4"/>
          <p:cNvSpPr txBox="1"/>
          <p:nvPr>
            <p:ph idx="12" type="sldNum"/>
          </p:nvPr>
        </p:nvSpPr>
        <p:spPr>
          <a:xfrm>
            <a:off x="10435543" y="6564337"/>
            <a:ext cx="219964" cy="333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6" name="Google Shape;86;p4"/>
          <p:cNvSpPr txBox="1"/>
          <p:nvPr/>
        </p:nvSpPr>
        <p:spPr>
          <a:xfrm>
            <a:off x="1965125" y="1268301"/>
            <a:ext cx="8261700" cy="49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-4064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"/>
              <a:buChar char="●"/>
            </a:pPr>
            <a:r>
              <a:rPr lang="en-US" sz="28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Escolhemos esse projeto pois achamos interessante a alta adaptabilidade do Riley Rover, que permite acoplar facilmente diversos sensores e motores para diferentes ocasiões. </a:t>
            </a:r>
            <a:endParaRPr sz="28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"/>
              <a:buChar char="●"/>
            </a:pPr>
            <a:r>
              <a:rPr lang="en-US" sz="28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Com essa base, o problema que estamos resolvendo é a automação de tarefas repetitivas de coleta. O benefício do protótipo é demonstrar como um veículo autônomo pode ser programado para identificar, capturar e transportar objetos sem precisar de intervenção humana.</a:t>
            </a:r>
            <a:endParaRPr sz="28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6"/>
          <p:cNvSpPr txBox="1"/>
          <p:nvPr>
            <p:ph type="title"/>
          </p:nvPr>
        </p:nvSpPr>
        <p:spPr>
          <a:xfrm>
            <a:off x="1991543" y="545195"/>
            <a:ext cx="8219256" cy="6515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"/>
              <a:buNone/>
            </a:pPr>
            <a:r>
              <a:rPr lang="en-US">
                <a:latin typeface="Times"/>
                <a:ea typeface="Times"/>
                <a:cs typeface="Times"/>
                <a:sym typeface="Times"/>
              </a:rPr>
              <a:t>Funcionalidades</a:t>
            </a:r>
            <a:endParaRPr/>
          </a:p>
        </p:txBody>
      </p:sp>
      <p:sp>
        <p:nvSpPr>
          <p:cNvPr id="92" name="Google Shape;92;p6"/>
          <p:cNvSpPr txBox="1"/>
          <p:nvPr>
            <p:ph idx="12" type="sldNum"/>
          </p:nvPr>
        </p:nvSpPr>
        <p:spPr>
          <a:xfrm>
            <a:off x="10435543" y="6564337"/>
            <a:ext cx="219964" cy="333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3" name="Google Shape;93;p6"/>
          <p:cNvSpPr txBox="1"/>
          <p:nvPr/>
        </p:nvSpPr>
        <p:spPr>
          <a:xfrm>
            <a:off x="1466300" y="1196751"/>
            <a:ext cx="9180300" cy="57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3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O protótipo é capaz de realizar as seguintes ações:</a:t>
            </a:r>
            <a:endParaRPr sz="23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b="1" lang="en-US" sz="23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Navegação Autônoma (DriveBase):</a:t>
            </a:r>
            <a:r>
              <a:rPr lang="en-US" sz="23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Movimentação controlada utilizando odometria, com cálculos automáticos baseados no diâmetro das rodas e distância do eixo (</a:t>
            </a:r>
            <a:r>
              <a:rPr lang="en-US" sz="2300">
                <a:solidFill>
                  <a:srgbClr val="188038"/>
                </a:solidFill>
                <a:latin typeface="Times"/>
                <a:ea typeface="Times"/>
                <a:cs typeface="Times"/>
                <a:sym typeface="Times"/>
              </a:rPr>
              <a:t>wheel_diameter</a:t>
            </a:r>
            <a:r>
              <a:rPr lang="en-US" sz="23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e </a:t>
            </a:r>
            <a:r>
              <a:rPr lang="en-US" sz="2300">
                <a:solidFill>
                  <a:srgbClr val="188038"/>
                </a:solidFill>
                <a:latin typeface="Times"/>
                <a:ea typeface="Times"/>
                <a:cs typeface="Times"/>
                <a:sym typeface="Times"/>
              </a:rPr>
              <a:t>axle_track</a:t>
            </a:r>
            <a:r>
              <a:rPr lang="en-US" sz="23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).</a:t>
            </a:r>
            <a:endParaRPr sz="23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b="1" lang="en-US" sz="23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Percepção de Ambiente:</a:t>
            </a:r>
            <a:r>
              <a:rPr lang="en-US" sz="23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Leitura de objetos através de um sensor ultrassônico posicionado na parte frontal.</a:t>
            </a:r>
            <a:endParaRPr sz="23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b="1" lang="en-US" sz="23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Controle Temporal da Garra:</a:t>
            </a:r>
            <a:r>
              <a:rPr lang="en-US" sz="23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Acionamento do motor da garra por um tempo pré-determinado para envolver o objeto em segurança. A força é mantida constante através do comando de trava (</a:t>
            </a:r>
            <a:r>
              <a:rPr lang="en-US" sz="2300">
                <a:solidFill>
                  <a:srgbClr val="188038"/>
                </a:solidFill>
                <a:latin typeface="Times"/>
                <a:ea typeface="Times"/>
                <a:cs typeface="Times"/>
                <a:sym typeface="Times"/>
              </a:rPr>
              <a:t>Stop.HOLD</a:t>
            </a:r>
            <a:r>
              <a:rPr lang="en-US" sz="23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), garantindo que o objeto não caia enquanto o robô se movimenta de volta.</a:t>
            </a:r>
            <a:endParaRPr sz="23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b="1" lang="en-US" sz="23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Manobra de Retorno:</a:t>
            </a:r>
            <a:r>
              <a:rPr lang="en-US" sz="23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Rotação de 210 graus no próprio eixo após a captura e navegação contínua de volta à base.</a:t>
            </a:r>
            <a:endParaRPr sz="23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"/>
              <a:buNone/>
            </a:pPr>
            <a:r>
              <a:t/>
            </a:r>
            <a:endParaRPr sz="2800">
              <a:solidFill>
                <a:srgbClr val="FF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7"/>
          <p:cNvSpPr txBox="1"/>
          <p:nvPr>
            <p:ph type="title"/>
          </p:nvPr>
        </p:nvSpPr>
        <p:spPr>
          <a:xfrm>
            <a:off x="1991543" y="545195"/>
            <a:ext cx="8219256" cy="6515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"/>
              <a:buNone/>
            </a:pPr>
            <a:r>
              <a:rPr b="1" i="0" lang="en-US" sz="36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Problemas e Desafios encontrados</a:t>
            </a:r>
            <a:endParaRPr b="1" i="0" sz="3600" u="none" cap="none" strike="noStrike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99" name="Google Shape;99;p7"/>
          <p:cNvSpPr txBox="1"/>
          <p:nvPr>
            <p:ph idx="12" type="sldNum"/>
          </p:nvPr>
        </p:nvSpPr>
        <p:spPr>
          <a:xfrm>
            <a:off x="10435543" y="6564337"/>
            <a:ext cx="219964" cy="333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0" name="Google Shape;100;p7"/>
          <p:cNvSpPr/>
          <p:nvPr/>
        </p:nvSpPr>
        <p:spPr>
          <a:xfrm>
            <a:off x="10240659" y="3552350"/>
            <a:ext cx="1867814" cy="1781197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1" name="Google Shape;101;p7"/>
          <p:cNvSpPr txBox="1"/>
          <p:nvPr/>
        </p:nvSpPr>
        <p:spPr>
          <a:xfrm>
            <a:off x="1919768" y="1863805"/>
            <a:ext cx="8769300" cy="47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-361950" lvl="0" marL="457200" rtl="0" algn="just">
              <a:spcBef>
                <a:spcPts val="0"/>
              </a:spcBef>
              <a:spcAft>
                <a:spcPts val="0"/>
              </a:spcAft>
              <a:buSzPts val="2100"/>
              <a:buFont typeface="Times"/>
              <a:buChar char="●"/>
            </a:pPr>
            <a:r>
              <a:rPr b="1" lang="en-US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Comunicação e Permissões de SO:</a:t>
            </a:r>
            <a:r>
              <a:rPr lang="en-US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Dificuldades iniciais na transferência de scripts Python via USB, resolvemos isso fazendo a transferência do arquivo por Bluetooth.</a:t>
            </a:r>
            <a:endParaRPr sz="21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361950" lvl="0" marL="457200" rtl="0" algn="just">
              <a:spcBef>
                <a:spcPts val="0"/>
              </a:spcBef>
              <a:spcAft>
                <a:spcPts val="0"/>
              </a:spcAft>
              <a:buSzPts val="2100"/>
              <a:buFont typeface="Times"/>
              <a:buChar char="●"/>
            </a:pPr>
            <a:r>
              <a:rPr b="1" lang="en-US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Arquitetura de Hardware:</a:t>
            </a:r>
            <a:r>
              <a:rPr lang="en-US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Ocorreu um erro de </a:t>
            </a:r>
            <a:r>
              <a:rPr lang="en-US" sz="2100">
                <a:solidFill>
                  <a:srgbClr val="188038"/>
                </a:solidFill>
                <a:latin typeface="Times"/>
                <a:ea typeface="Times"/>
                <a:cs typeface="Times"/>
                <a:sym typeface="Times"/>
              </a:rPr>
              <a:t>Invalid port</a:t>
            </a:r>
            <a:r>
              <a:rPr lang="en-US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ao tentar instanciar um motor de saída (Output) em uma porta de entrada de sensor (Input S3), exigindo o remapeamento físico e lógico para a porta C.</a:t>
            </a:r>
            <a:endParaRPr sz="21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361950" lvl="0" marL="457200" rtl="0" algn="just">
              <a:spcBef>
                <a:spcPts val="0"/>
              </a:spcBef>
              <a:spcAft>
                <a:spcPts val="0"/>
              </a:spcAft>
              <a:buSzPts val="2100"/>
              <a:buFont typeface="Times"/>
              <a:buChar char="●"/>
            </a:pPr>
            <a:r>
              <a:rPr b="1" lang="en-US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Acionamento da garra:</a:t>
            </a:r>
            <a:r>
              <a:rPr lang="en-US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US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Estávamos</a:t>
            </a:r>
            <a:r>
              <a:rPr lang="en-US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utilizando um </a:t>
            </a:r>
            <a:r>
              <a:rPr lang="en-US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método</a:t>
            </a:r>
            <a:r>
              <a:rPr lang="en-US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que abria a garra </a:t>
            </a:r>
            <a:r>
              <a:rPr lang="en-US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até</a:t>
            </a:r>
            <a:r>
              <a:rPr lang="en-US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o travamento </a:t>
            </a:r>
            <a:r>
              <a:rPr lang="en-US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físico</a:t>
            </a:r>
            <a:r>
              <a:rPr lang="en-US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das peças, </a:t>
            </a:r>
            <a:r>
              <a:rPr lang="en-US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porém</a:t>
            </a:r>
            <a:r>
              <a:rPr lang="en-US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o motor não identificava o travamento físico e continuava forçando as peças de plástico. Resolvemos trocando a </a:t>
            </a:r>
            <a:r>
              <a:rPr b="1" lang="en-US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função</a:t>
            </a:r>
            <a:r>
              <a:rPr lang="en-US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para um fechamento baseado em tempo exato.</a:t>
            </a:r>
            <a:endParaRPr sz="21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"/>
              <a:buNone/>
            </a:pPr>
            <a:r>
              <a:t/>
            </a:r>
            <a:endParaRPr sz="2800">
              <a:solidFill>
                <a:srgbClr val="FF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8"/>
          <p:cNvSpPr txBox="1"/>
          <p:nvPr>
            <p:ph type="title"/>
          </p:nvPr>
        </p:nvSpPr>
        <p:spPr>
          <a:xfrm>
            <a:off x="1991543" y="545195"/>
            <a:ext cx="8219256" cy="6515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"/>
              <a:buNone/>
            </a:pPr>
            <a:r>
              <a:rPr lang="en-US">
                <a:latin typeface="Times"/>
                <a:ea typeface="Times"/>
                <a:cs typeface="Times"/>
                <a:sym typeface="Times"/>
              </a:rPr>
              <a:t>Conhecimento e Experiencia adquirida</a:t>
            </a:r>
            <a:endParaRPr/>
          </a:p>
        </p:txBody>
      </p:sp>
      <p:sp>
        <p:nvSpPr>
          <p:cNvPr id="107" name="Google Shape;107;p8"/>
          <p:cNvSpPr txBox="1"/>
          <p:nvPr>
            <p:ph idx="12" type="sldNum"/>
          </p:nvPr>
        </p:nvSpPr>
        <p:spPr>
          <a:xfrm>
            <a:off x="10319680" y="6564337"/>
            <a:ext cx="335827" cy="333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8" name="Google Shape;108;p8"/>
          <p:cNvSpPr txBox="1"/>
          <p:nvPr/>
        </p:nvSpPr>
        <p:spPr>
          <a:xfrm>
            <a:off x="1737114" y="1871980"/>
            <a:ext cx="9836400" cy="30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-3810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"/>
              <a:buChar char="●"/>
            </a:pPr>
            <a:r>
              <a:rPr b="1" lang="en-US" sz="2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Desenvolvimento Embarcado:</a:t>
            </a:r>
            <a:r>
              <a:rPr lang="en-US" sz="2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Domínio da biblioteca Pybricks em MicroPython para controle de hardware.</a:t>
            </a:r>
            <a:endParaRPr sz="24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381000" lvl="0" marL="457200" rtl="0" algn="just">
              <a:spcBef>
                <a:spcPts val="0"/>
              </a:spcBef>
              <a:spcAft>
                <a:spcPts val="0"/>
              </a:spcAft>
              <a:buSzPts val="2400"/>
              <a:buFont typeface="Times"/>
              <a:buChar char="●"/>
            </a:pPr>
            <a:r>
              <a:rPr b="1" lang="en-US" sz="2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Debugging Avançado:</a:t>
            </a:r>
            <a:r>
              <a:rPr lang="en-US" sz="2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Experiência em acessar o terminal Linux do EV3 via protocolo SSH (Secure Shell) para leitura de logs de erro (</a:t>
            </a:r>
            <a:r>
              <a:rPr lang="en-US" sz="2400">
                <a:solidFill>
                  <a:srgbClr val="188038"/>
                </a:solidFill>
                <a:latin typeface="Times"/>
                <a:ea typeface="Times"/>
                <a:cs typeface="Times"/>
                <a:sym typeface="Times"/>
              </a:rPr>
              <a:t>.err.log</a:t>
            </a:r>
            <a:r>
              <a:rPr lang="en-US" sz="2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) e diagnóstico preciso de falhas no código.</a:t>
            </a:r>
            <a:endParaRPr sz="24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381000" lvl="0" marL="457200" rtl="0" algn="just">
              <a:spcBef>
                <a:spcPts val="0"/>
              </a:spcBef>
              <a:spcAft>
                <a:spcPts val="0"/>
              </a:spcAft>
              <a:buSzPts val="2400"/>
              <a:buFont typeface="Times"/>
              <a:buChar char="●"/>
            </a:pPr>
            <a:r>
              <a:rPr b="1" lang="en-US" sz="2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Lidando com Loops de Controle:</a:t>
            </a:r>
            <a:r>
              <a:rPr lang="en-US" sz="2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Compreensão de que a leitura de sensores deve ocorrer iterativamente dentro de um loop (</a:t>
            </a:r>
            <a:r>
              <a:rPr lang="en-US" sz="2400">
                <a:solidFill>
                  <a:srgbClr val="188038"/>
                </a:solidFill>
                <a:latin typeface="Times"/>
                <a:ea typeface="Times"/>
                <a:cs typeface="Times"/>
                <a:sym typeface="Times"/>
              </a:rPr>
              <a:t>while True</a:t>
            </a:r>
            <a:r>
              <a:rPr lang="en-US" sz="2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) para que o robô reaja em tempo real ao ambiente.</a:t>
            </a:r>
            <a:endParaRPr sz="2400">
              <a:solidFill>
                <a:srgbClr val="FF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9"/>
          <p:cNvSpPr txBox="1"/>
          <p:nvPr>
            <p:ph type="title"/>
          </p:nvPr>
        </p:nvSpPr>
        <p:spPr>
          <a:xfrm>
            <a:off x="1991543" y="545195"/>
            <a:ext cx="8219256" cy="6515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"/>
              <a:buNone/>
            </a:pPr>
            <a:r>
              <a:rPr lang="en-US">
                <a:latin typeface="Times"/>
                <a:ea typeface="Times"/>
                <a:cs typeface="Times"/>
                <a:sym typeface="Times"/>
              </a:rPr>
              <a:t>Resultados Obtidos </a:t>
            </a:r>
            <a:endParaRPr/>
          </a:p>
        </p:txBody>
      </p:sp>
      <p:sp>
        <p:nvSpPr>
          <p:cNvPr id="114" name="Google Shape;114;p9"/>
          <p:cNvSpPr txBox="1"/>
          <p:nvPr>
            <p:ph idx="12" type="sldNum"/>
          </p:nvPr>
        </p:nvSpPr>
        <p:spPr>
          <a:xfrm>
            <a:off x="10319680" y="6564337"/>
            <a:ext cx="335827" cy="333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5" name="Google Shape;115;p9" title="foto 1.jpeg"/>
          <p:cNvPicPr preferRelativeResize="0"/>
          <p:nvPr/>
        </p:nvPicPr>
        <p:blipFill rotWithShape="1">
          <a:blip r:embed="rId3">
            <a:alphaModFix/>
          </a:blip>
          <a:srcRect b="14394" l="0" r="0" t="23079"/>
          <a:stretch/>
        </p:blipFill>
        <p:spPr>
          <a:xfrm>
            <a:off x="890850" y="1831688"/>
            <a:ext cx="3200175" cy="2667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9" title="foto2.jpeg"/>
          <p:cNvPicPr preferRelativeResize="0"/>
          <p:nvPr/>
        </p:nvPicPr>
        <p:blipFill rotWithShape="1">
          <a:blip r:embed="rId4">
            <a:alphaModFix/>
          </a:blip>
          <a:srcRect b="34070" l="6987" r="2630" t="10781"/>
          <a:stretch/>
        </p:blipFill>
        <p:spPr>
          <a:xfrm>
            <a:off x="4335850" y="1831688"/>
            <a:ext cx="3279549" cy="2667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9" title="foto 3.jpeg"/>
          <p:cNvPicPr preferRelativeResize="0"/>
          <p:nvPr/>
        </p:nvPicPr>
        <p:blipFill rotWithShape="1">
          <a:blip r:embed="rId5">
            <a:alphaModFix/>
          </a:blip>
          <a:srcRect b="10934" l="0" r="0" t="31092"/>
          <a:stretch/>
        </p:blipFill>
        <p:spPr>
          <a:xfrm>
            <a:off x="7860225" y="1831688"/>
            <a:ext cx="3451278" cy="2667824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9"/>
          <p:cNvSpPr txBox="1"/>
          <p:nvPr/>
        </p:nvSpPr>
        <p:spPr>
          <a:xfrm>
            <a:off x="2294950" y="5333913"/>
            <a:ext cx="8620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https://www.youtube.com/shorts/vy6NWu-kSXs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0"/>
          <p:cNvSpPr txBox="1"/>
          <p:nvPr>
            <p:ph type="title"/>
          </p:nvPr>
        </p:nvSpPr>
        <p:spPr>
          <a:xfrm>
            <a:off x="1991543" y="545195"/>
            <a:ext cx="8219256" cy="6515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"/>
              <a:buNone/>
            </a:pPr>
            <a:r>
              <a:rPr lang="en-US">
                <a:latin typeface="Times"/>
                <a:ea typeface="Times"/>
                <a:cs typeface="Times"/>
                <a:sym typeface="Times"/>
              </a:rPr>
              <a:t>Conclusão </a:t>
            </a:r>
            <a:endParaRPr/>
          </a:p>
        </p:txBody>
      </p:sp>
      <p:sp>
        <p:nvSpPr>
          <p:cNvPr id="124" name="Google Shape;124;p10"/>
          <p:cNvSpPr txBox="1"/>
          <p:nvPr>
            <p:ph idx="12" type="sldNum"/>
          </p:nvPr>
        </p:nvSpPr>
        <p:spPr>
          <a:xfrm>
            <a:off x="10319680" y="6564337"/>
            <a:ext cx="335827" cy="333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5" name="Google Shape;125;p10"/>
          <p:cNvSpPr/>
          <p:nvPr/>
        </p:nvSpPr>
        <p:spPr>
          <a:xfrm>
            <a:off x="10240659" y="3552350"/>
            <a:ext cx="1867814" cy="1781197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6" name="Google Shape;126;p10"/>
          <p:cNvSpPr txBox="1"/>
          <p:nvPr/>
        </p:nvSpPr>
        <p:spPr>
          <a:xfrm>
            <a:off x="1582973" y="1817152"/>
            <a:ext cx="10166400" cy="3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"/>
              <a:buNone/>
            </a:pPr>
            <a:r>
              <a:rPr lang="en-US" sz="28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 construção do Riley Rover provou que o desenvolvimento de um sistema embarcado vai muito além da escrita do código. A equipe superou os desafios de integração garantindo que o software compreendesse as limitações físicas do hardware (como portas específicas, quedas de tensão e atrito de engrenagens). As soluções implementadas, como a troca da lógica de ângulos por controle de torque na garra, garantiram a eficácia do produto final e enriqueceram a capacidade analítica do grupo.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1"/>
          <p:cNvSpPr txBox="1"/>
          <p:nvPr>
            <p:ph type="title"/>
          </p:nvPr>
        </p:nvSpPr>
        <p:spPr>
          <a:xfrm>
            <a:off x="1991543" y="545195"/>
            <a:ext cx="8219256" cy="6515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"/>
              <a:buNone/>
            </a:pPr>
            <a:r>
              <a:rPr b="1" i="0" lang="en-US" sz="36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Github e Youtube </a:t>
            </a:r>
            <a:endParaRPr/>
          </a:p>
        </p:txBody>
      </p:sp>
      <p:sp>
        <p:nvSpPr>
          <p:cNvPr id="132" name="Google Shape;132;p11"/>
          <p:cNvSpPr txBox="1"/>
          <p:nvPr>
            <p:ph idx="12" type="sldNum"/>
          </p:nvPr>
        </p:nvSpPr>
        <p:spPr>
          <a:xfrm>
            <a:off x="10319680" y="6564337"/>
            <a:ext cx="335827" cy="333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3" name="Google Shape;133;p11"/>
          <p:cNvSpPr/>
          <p:nvPr/>
        </p:nvSpPr>
        <p:spPr>
          <a:xfrm>
            <a:off x="10240659" y="3552350"/>
            <a:ext cx="1867814" cy="1781197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4" name="Google Shape;134;p11"/>
          <p:cNvSpPr txBox="1"/>
          <p:nvPr/>
        </p:nvSpPr>
        <p:spPr>
          <a:xfrm>
            <a:off x="1582973" y="1817152"/>
            <a:ext cx="101664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-4064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"/>
              <a:buChar char="●"/>
            </a:pPr>
            <a:r>
              <a:rPr lang="en-US" sz="2800" u="sng">
                <a:solidFill>
                  <a:schemeClr val="hlink"/>
                </a:solidFill>
                <a:latin typeface="Times"/>
                <a:ea typeface="Times"/>
                <a:cs typeface="Times"/>
                <a:sym typeface="Times"/>
                <a:hlinkClick r:id="rId3"/>
              </a:rPr>
              <a:t>https://www.youtube.com/shorts/vy6NWu-kSXs</a:t>
            </a:r>
            <a:endParaRPr sz="28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4064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"/>
              <a:buChar char="●"/>
            </a:pPr>
            <a:r>
              <a:rPr lang="en-US" sz="2800" u="sng">
                <a:solidFill>
                  <a:schemeClr val="hlink"/>
                </a:solidFill>
                <a:latin typeface="Times"/>
                <a:ea typeface="Times"/>
                <a:cs typeface="Times"/>
                <a:sym typeface="Times"/>
                <a:hlinkClick r:id="rId4"/>
              </a:rPr>
              <a:t>https://github.com/nambugu/Robotica-Lego-EV3-Riley-Rover</a:t>
            </a:r>
            <a:endParaRPr sz="28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Tema do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Tema do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